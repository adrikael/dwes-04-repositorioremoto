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60" r:id="rId5"/>
    <p:sldId id="261" r:id="rId6"/>
    <p:sldId id="263" r:id="rId7"/>
    <p:sldId id="264" r:id="rId8"/>
    <p:sldId id="265" r:id="rId9"/>
    <p:sldId id="266" r:id="rId10"/>
    <p:sldId id="267" r:id="rId11"/>
    <p:sldId id="268" r:id="rId1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3" d="100"/>
          <a:sy n="83" d="100"/>
        </p:scale>
        <p:origin x="643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B61BEF0D-F0BB-DE4B-95CE-6DB70DBA9567}" type="datetimeFigureOut">
              <a:rPr lang="en-US" dirty="0"/>
              <a:pPr/>
              <a:t>10/8/2026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D57F1E4F-1CFF-5643-939E-217C01CDF565}" type="slidenum">
              <a:rPr lang="en-US" dirty="0"/>
              <a:pPr/>
              <a:t>‹Nº›</a:t>
            </a:fld>
            <a:endParaRPr lang="en-US" dirty="0"/>
          </a:p>
        </p:txBody>
      </p:sp>
    </p:spTree>
  </p:cSld>
  <p:clrMap bg1="dk1" tx1="lt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60" r:id="rId9"/>
    <p:sldLayoutId id="2147483668" r:id="rId10"/>
    <p:sldLayoutId id="2147483663" r:id="rId11"/>
    <p:sldLayoutId id="2147483664" r:id="rId12"/>
    <p:sldLayoutId id="2147483665" r:id="rId13"/>
    <p:sldLayoutId id="2147483666" r:id="rId14"/>
    <p:sldLayoutId id="2147483667" r:id="rId15"/>
    <p:sldLayoutId id="2147483658" r:id="rId16"/>
    <p:sldLayoutId id="214748365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AE12BAA-9D26-5385-A6DE-91C3C798E06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DWES-04-RepositorioRemoto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BE22B368-CDCF-1936-F7BB-BFAE39BCB5A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Álvaro Ruiz Velázquez // Adrián García-Heras</a:t>
            </a:r>
          </a:p>
          <a:p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Desarrollo Web en Entornos Servidor</a:t>
            </a:r>
          </a:p>
        </p:txBody>
      </p:sp>
    </p:spTree>
    <p:extLst>
      <p:ext uri="{BB962C8B-B14F-4D97-AF65-F5344CB8AC3E}">
        <p14:creationId xmlns:p14="http://schemas.microsoft.com/office/powerpoint/2010/main" val="31948113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4E09BC-E403-BE94-7716-47D7B9B3C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87907"/>
            <a:ext cx="10058400" cy="1314516"/>
          </a:xfrm>
        </p:spPr>
        <p:txBody>
          <a:bodyPr>
            <a:normAutofit/>
          </a:bodyPr>
          <a:lstStyle/>
          <a:p>
            <a:r>
              <a:rPr lang="es-E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Objetivos del proyecto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6715468B-9A66-0156-9454-B4D4F8630C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015122" y="2030444"/>
            <a:ext cx="10058400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Gestión centralizada y eficiente de usuarios mediante arquitectura limpia.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2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Resiliencia y alta disponibilidad frente a servicios externos (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JSONPlaceholder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2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Persistencia híbrida (SQLite en local / PostgreSQL en producción).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2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Caché multinivel (</a:t>
            </a:r>
            <a:r>
              <a:rPr kumimoji="0" lang="es-ES" altLang="es-ES" sz="2400" b="0" i="1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Cache-Aside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 con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IMemoryCache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 Redis.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2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Sincronización automática en segundo plano mediante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PeriodicTimer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2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Despliegue contenerizado con Docker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Compose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189441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B053757-8FEA-312B-609F-27E7A6777D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Arquitectura por capas y desacoplamiento</a:t>
            </a: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1AC1AF5C-B61F-0EF1-A313-551ABB3339E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84213" y="685801"/>
            <a:ext cx="5943600" cy="5308598"/>
          </a:xfr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315FFBAD-B471-4757-BD53-B1E2F42A52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012" y="2209798"/>
            <a:ext cx="3657600" cy="378460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Capa de Presentación: Punto de entrada / Consola / Controladores.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Capa de Negocio: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UserService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SynchroService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Mappers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Validadores.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Capa de Infraestructura: Repositorios EF Core, Clientes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Refit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y Adaptadores de Caché.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Inversión de Dependencias (DIP): Uso de interfaces para un desacoplamiento total.</a:t>
            </a:r>
          </a:p>
        </p:txBody>
      </p:sp>
    </p:spTree>
    <p:extLst>
      <p:ext uri="{BB962C8B-B14F-4D97-AF65-F5344CB8AC3E}">
        <p14:creationId xmlns:p14="http://schemas.microsoft.com/office/powerpoint/2010/main" val="28314876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254B3-9020-0D29-8219-962A95C3D7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F23EECE-C3E2-6C3C-0251-032671425F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87907"/>
            <a:ext cx="10058400" cy="1314516"/>
          </a:xfrm>
        </p:spPr>
        <p:txBody>
          <a:bodyPr>
            <a:normAutofit/>
          </a:bodyPr>
          <a:lstStyle/>
          <a:p>
            <a:r>
              <a:rPr lang="es-E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Modelos de dominio vs </a:t>
            </a:r>
            <a:r>
              <a:rPr lang="es-ES" sz="4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dtos</a:t>
            </a:r>
            <a:endParaRPr lang="es-E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53E46DAD-1DC9-6917-CDBD-682F4B4C9A0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066800" y="3323105"/>
            <a:ext cx="1005840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Entidad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Incluye datos complejos anidados (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Address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Company, Geo)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ES" altLang="es-ES" sz="2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DTOs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UserDto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Aísla el modelo interno de la API externa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ES" altLang="es-ES" sz="2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Mapeo bidireccional: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UsuarioMapper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convierte entre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DTOs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y Modelos</a:t>
            </a:r>
          </a:p>
        </p:txBody>
      </p:sp>
    </p:spTree>
    <p:extLst>
      <p:ext uri="{BB962C8B-B14F-4D97-AF65-F5344CB8AC3E}">
        <p14:creationId xmlns:p14="http://schemas.microsoft.com/office/powerpoint/2010/main" val="41201989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807E6-8C9F-D51D-58D7-99E9DE79DC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ABB52-574E-AB2B-8661-B2E4CC3934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87907"/>
            <a:ext cx="10058400" cy="1314516"/>
          </a:xfrm>
        </p:spPr>
        <p:txBody>
          <a:bodyPr>
            <a:normAutofit/>
          </a:bodyPr>
          <a:lstStyle/>
          <a:p>
            <a:r>
              <a:rPr lang="es-E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Persistencia Híbrida con EF Core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49545CC6-596D-0986-2EE7-D988E818A63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015123" y="2399775"/>
            <a:ext cx="10058400" cy="378565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Patrón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Repository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IUserRepository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 Abstrae las operaciones CRUD del ORM.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ES" altLang="es-ES" sz="2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SQLite (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AppDbContextSqlite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 Para desarrollo rápido sin dependencias.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ES" altLang="es-ES" sz="2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PostgreSQL (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AppDbContextPostgre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): Para entorno de producción de alto rendimiento.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ES" altLang="es-ES" sz="2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Intercambiabilidad: Cambio de motor de datos mediante configuración, sin modificar lógica de negocio.</a:t>
            </a:r>
          </a:p>
        </p:txBody>
      </p:sp>
    </p:spTree>
    <p:extLst>
      <p:ext uri="{BB962C8B-B14F-4D97-AF65-F5344CB8AC3E}">
        <p14:creationId xmlns:p14="http://schemas.microsoft.com/office/powerpoint/2010/main" val="23044840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2F76A5-0CC6-B163-D9C2-1D4255736E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17EAFDD-2E97-F7A2-0FD0-C21C4F587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Estrategia de Caché Multinivel (Cache-Aside)</a:t>
            </a: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2A693BAD-0FA7-DD33-9662-48BF8F77817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684213" y="685801"/>
            <a:ext cx="5943600" cy="5308598"/>
          </a:xfr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B12A05E8-32FB-1AB1-3624-160998AF22C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012" y="2209798"/>
            <a:ext cx="3657600" cy="378460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Abstracción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IUserCache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Interfaz común para la gestión de memoria.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Modo Local: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MemoryCache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para ejecuciones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monoproceso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Modo Distribuido: Redis para entornos contenerizados y escalables.</a:t>
            </a:r>
          </a:p>
        </p:txBody>
      </p:sp>
    </p:spTree>
    <p:extLst>
      <p:ext uri="{BB962C8B-B14F-4D97-AF65-F5344CB8AC3E}">
        <p14:creationId xmlns:p14="http://schemas.microsoft.com/office/powerpoint/2010/main" val="40404367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032313-55C0-6811-BB11-148D9BC46F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22CD27F-C529-A788-C3A0-D853642CC9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Cliente HTTP declarativo con </a:t>
            </a:r>
            <a:r>
              <a:rPr lang="es-E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refit</a:t>
            </a:r>
            <a:endParaRPr lang="es-E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7A5B238A-B6F1-AACD-AED8-4D517CFBDB4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684213" y="685801"/>
            <a:ext cx="5943600" cy="5308598"/>
          </a:xfr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576D14FB-D91A-1CBF-A7B1-605442867C6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012" y="2209798"/>
            <a:ext cx="3657600" cy="378460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API Externa: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JSONPlaceholder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(/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users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Refit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IJsonPlaceholderApi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): Sustituye llamadas manuales con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HttpClient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por interfaces.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Ventajas: Menos código, mayor legibilidad y tipado estricto en respuestas JSON.</a:t>
            </a:r>
          </a:p>
        </p:txBody>
      </p:sp>
    </p:spTree>
    <p:extLst>
      <p:ext uri="{BB962C8B-B14F-4D97-AF65-F5344CB8AC3E}">
        <p14:creationId xmlns:p14="http://schemas.microsoft.com/office/powerpoint/2010/main" val="15279518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EA6370-91A5-12BE-3C0C-63686A207D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AA33AADA-7719-B1EB-CCC9-9DF603D43A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87907"/>
            <a:ext cx="10058400" cy="1314516"/>
          </a:xfrm>
        </p:spPr>
        <p:txBody>
          <a:bodyPr>
            <a:normAutofit/>
          </a:bodyPr>
          <a:lstStyle/>
          <a:p>
            <a:r>
              <a:rPr lang="es-E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Validación y Gestión de errores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25F76443-C7F6-395C-1B49-7221DF429CC0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015123" y="2769107"/>
            <a:ext cx="1005840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UserValidator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Valida formato de email y campos obligatorios antes de persistir.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ES" altLang="es-ES" sz="2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DomainErrors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Definición fuertemente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tipada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errores conocidos (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NotFound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InvalidData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ES" altLang="es-ES" sz="2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Result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&lt;T&gt;: Evita lanzar excepciones para el flujo normal del programa, devolviendo explícitamente el estado (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IsSuccess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/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IsFailure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</p:txBody>
      </p:sp>
    </p:spTree>
    <p:extLst>
      <p:ext uri="{BB962C8B-B14F-4D97-AF65-F5344CB8AC3E}">
        <p14:creationId xmlns:p14="http://schemas.microsoft.com/office/powerpoint/2010/main" val="23817686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C8BA5-162C-865E-4F58-0F55D337D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5A8ED99-A77F-9D02-26F5-ACACBAAA01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66800" y="487907"/>
            <a:ext cx="10058400" cy="1314516"/>
          </a:xfrm>
        </p:spPr>
        <p:txBody>
          <a:bodyPr>
            <a:normAutofit/>
          </a:bodyPr>
          <a:lstStyle/>
          <a:p>
            <a:r>
              <a:rPr lang="es-E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Validación y Gestión de errores</a:t>
            </a:r>
          </a:p>
        </p:txBody>
      </p:sp>
      <p:sp>
        <p:nvSpPr>
          <p:cNvPr id="4" name="Rectangle 1">
            <a:extLst>
              <a:ext uri="{FF2B5EF4-FFF2-40B4-BE49-F238E27FC236}">
                <a16:creationId xmlns:a16="http://schemas.microsoft.com/office/drawing/2014/main" id="{8BF55891-0C3C-EA9B-BDC3-397F9F37580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015123" y="2769107"/>
            <a:ext cx="4680000" cy="30469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Servicios desplegados: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lang="es-ES" altLang="es-ES" sz="2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app-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dotnet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Imagen </a:t>
            </a: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runtine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 de .NET 10.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kumimoji="0" lang="es-ES" altLang="es-ES" sz="2400" b="0" i="0" u="none" strike="noStrike" cap="none" normalizeH="0" baseline="0" dirty="0" err="1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postgress-db</a:t>
            </a:r>
            <a:r>
              <a:rPr kumimoji="0" lang="es-ES" altLang="es-ES" sz="2400" b="0" i="0" u="none" strike="noStrike" cap="none" normalizeH="0" baseline="0" dirty="0">
                <a:ln>
                  <a:noFill/>
                </a:ln>
                <a:solidFill>
                  <a:schemeClr val="accent1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: Servicio PostgreSQL en puerto 5432.</a:t>
            </a:r>
          </a:p>
          <a:p>
            <a:pPr marL="342900" marR="0" lvl="0" indent="-34290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  <a:tabLst/>
            </a:pPr>
            <a:r>
              <a:rPr lang="es-ES" altLang="es-ES" sz="2400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redis</a:t>
            </a:r>
            <a:r>
              <a:rPr lang="es-ES" altLang="es-ES" sz="24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-cache: Servicio Redis en puerto 6379</a:t>
            </a:r>
            <a:endParaRPr kumimoji="0" lang="es-ES" altLang="es-ES" sz="2400" b="0" i="0" u="none" strike="noStrike" cap="none" normalizeH="0" baseline="0" dirty="0">
              <a:ln>
                <a:noFill/>
              </a:ln>
              <a:solidFill>
                <a:schemeClr val="accent1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5629F9A5-3D88-57C7-DC74-A8EC360B466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445200" y="3323104"/>
            <a:ext cx="4680000" cy="193899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lvl1pPr marL="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2000" kern="1200" cap="none">
                <a:solidFill>
                  <a:schemeClr val="bg2">
                    <a:lumMod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1pPr>
            <a:lvl2pPr marL="457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8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2pPr>
            <a:lvl3pPr marL="914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6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3pPr>
            <a:lvl4pPr marL="1371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4pPr>
            <a:lvl5pPr marL="18288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5pPr>
            <a:lvl6pPr marL="22860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6pPr>
            <a:lvl7pPr marL="27432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7pPr>
            <a:lvl8pPr marL="32004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8pPr>
            <a:lvl9pPr marL="3657600" indent="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tx1"/>
              </a:buClr>
              <a:buSzPct val="80000"/>
              <a:buFont typeface="Wingdings 3" panose="05040102010807070707" pitchFamily="18" charset="2"/>
              <a:buNone/>
              <a:defRPr sz="1400" kern="1200" cap="none">
                <a:solidFill>
                  <a:schemeClr val="tx1">
                    <a:tint val="75000"/>
                  </a:schemeClr>
                </a:solidFill>
                <a:effectLst/>
                <a:latin typeface="+mn-lt"/>
                <a:ea typeface="+mn-ea"/>
                <a:cs typeface="+mn-cs"/>
              </a:defRPr>
            </a:lvl9pPr>
          </a:lstStyle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r>
              <a:rPr lang="es-ES" altLang="es-ES" sz="24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Persistencia y </a:t>
            </a:r>
            <a:r>
              <a:rPr lang="es-ES" altLang="es-ES" sz="2400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Healthchecks</a:t>
            </a:r>
            <a:r>
              <a:rPr lang="es-ES" altLang="es-ES" sz="24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</a:pPr>
            <a:endParaRPr lang="es-ES" altLang="es-ES" sz="2400" dirty="0">
              <a:solidFill>
                <a:schemeClr val="accent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 defTabSz="914400" eaLnBrk="0" fontAlgn="base" hangingPunct="0">
              <a:spcBef>
                <a:spcPct val="0"/>
              </a:spcBef>
              <a:spcAft>
                <a:spcPct val="0"/>
              </a:spcAft>
              <a:buClrTx/>
              <a:buSzTx/>
              <a:buFont typeface="Wingdings" panose="05000000000000000000" pitchFamily="2" charset="2"/>
              <a:buChar char="Ø"/>
            </a:pPr>
            <a:r>
              <a:rPr lang="es-ES" altLang="es-ES" sz="2400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Volúmenes asignados y verificación de estado antes      del arranque</a:t>
            </a:r>
          </a:p>
        </p:txBody>
      </p:sp>
    </p:spTree>
    <p:extLst>
      <p:ext uri="{BB962C8B-B14F-4D97-AF65-F5344CB8AC3E}">
        <p14:creationId xmlns:p14="http://schemas.microsoft.com/office/powerpoint/2010/main" val="221358579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6635CE-FED0-D2C7-7A3B-83140F0B2A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8AEBC7D3-96F5-2B58-2BE6-A375DE27B5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Cobertura de pruebas automatizadas</a:t>
            </a:r>
          </a:p>
        </p:txBody>
      </p:sp>
      <p:pic>
        <p:nvPicPr>
          <p:cNvPr id="8" name="Marcador de contenido 7">
            <a:extLst>
              <a:ext uri="{FF2B5EF4-FFF2-40B4-BE49-F238E27FC236}">
                <a16:creationId xmlns:a16="http://schemas.microsoft.com/office/drawing/2014/main" id="{E6DD5347-B737-B930-2374-FC0205DD2F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/>
          <a:stretch/>
        </p:blipFill>
        <p:spPr>
          <a:xfrm>
            <a:off x="684213" y="2131200"/>
            <a:ext cx="5947885" cy="2595600"/>
          </a:xfrm>
        </p:spPr>
      </p:pic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EC59816-D7B4-78B3-F1F7-F674529104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7085012" y="2209798"/>
            <a:ext cx="3657600" cy="3784601"/>
          </a:xfrm>
        </p:spPr>
        <p:txBody>
          <a:bodyPr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Frameworks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NUnit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Moq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+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FluentAssertions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Pruebas de Casos Correctos: Flujos CRUD exitosos, integración con caché e invocaciones a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mappers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Pruebas de Casos Incorrectos: Manejo de datos inválidos, respuestas de error y usuarios no encontrados.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Simulación de dependencias: </a:t>
            </a:r>
            <a:r>
              <a:rPr lang="es-ES" dirty="0" err="1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Mocks</a:t>
            </a:r>
            <a:r>
              <a:rPr lang="es-ES" dirty="0">
                <a:solidFill>
                  <a:schemeClr val="accent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de repositorios, caché y API externa.</a:t>
            </a:r>
          </a:p>
        </p:txBody>
      </p:sp>
    </p:spTree>
    <p:extLst>
      <p:ext uri="{BB962C8B-B14F-4D97-AF65-F5344CB8AC3E}">
        <p14:creationId xmlns:p14="http://schemas.microsoft.com/office/powerpoint/2010/main" val="3274738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8BECD4-443D-ADB0-402A-06D5697EE2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F7721E1-4972-8022-1D3D-9293CA0A260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¡Muchas gracias!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25306B8-0974-789D-B9CC-E76F47C8DA6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s-E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¿Preguntas y/o Comentarios?</a:t>
            </a:r>
          </a:p>
        </p:txBody>
      </p:sp>
    </p:spTree>
    <p:extLst>
      <p:ext uri="{BB962C8B-B14F-4D97-AF65-F5344CB8AC3E}">
        <p14:creationId xmlns:p14="http://schemas.microsoft.com/office/powerpoint/2010/main" val="7087714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Sector">
  <a:themeElements>
    <a:clrScheme name="Slice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lice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lic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</Template>
  <TotalTime>197</TotalTime>
  <Words>487</Words>
  <Application>Microsoft Office PowerPoint</Application>
  <PresentationFormat>Panorámica</PresentationFormat>
  <Paragraphs>64</Paragraphs>
  <Slides>11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11</vt:i4>
      </vt:variant>
    </vt:vector>
  </HeadingPairs>
  <TitlesOfParts>
    <vt:vector size="17" baseType="lpstr">
      <vt:lpstr>Arial</vt:lpstr>
      <vt:lpstr>Century Gothic</vt:lpstr>
      <vt:lpstr>Times New Roman</vt:lpstr>
      <vt:lpstr>Wingdings</vt:lpstr>
      <vt:lpstr>Wingdings 3</vt:lpstr>
      <vt:lpstr>Sector</vt:lpstr>
      <vt:lpstr>DWES-04-RepositorioRemoto</vt:lpstr>
      <vt:lpstr>Objetivos del proyecto</vt:lpstr>
      <vt:lpstr>Arquitectura por capas y desacoplamiento</vt:lpstr>
      <vt:lpstr>Modelos de dominio vs dtos</vt:lpstr>
      <vt:lpstr>Persistencia Híbrida con EF Core</vt:lpstr>
      <vt:lpstr>Estrategia de Caché Multinivel (Cache-Aside)</vt:lpstr>
      <vt:lpstr>Cliente HTTP declarativo con refit</vt:lpstr>
      <vt:lpstr>Validación y Gestión de errores</vt:lpstr>
      <vt:lpstr>Validación y Gestión de errores</vt:lpstr>
      <vt:lpstr>Cobertura de pruebas automatizadas</vt:lpstr>
      <vt:lpstr>¡Muchas 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Álvaro Ruiz Velázquez</dc:creator>
  <cp:lastModifiedBy>Álvaro Ruiz Velázquez</cp:lastModifiedBy>
  <cp:revision>3</cp:revision>
  <dcterms:created xsi:type="dcterms:W3CDTF">2026-10-08T07:52:33Z</dcterms:created>
  <dcterms:modified xsi:type="dcterms:W3CDTF">2026-10-08T13:36:46Z</dcterms:modified>
</cp:coreProperties>
</file>